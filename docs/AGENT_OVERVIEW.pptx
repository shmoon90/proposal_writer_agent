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/>
              <a:t>Proposal Writer Agent — 에이전트 구성·역할·호출 Flow</a:t>
            </a:r>
          </a:p>
          <a:p>
            <a:r>
              <a:rPr sz="1600"/>
              <a:t>역할 10종 · 결과 재사용 그래프 · 오케스트레이션 스윔레인 (2026-10-15, roles.py 기준) · 원본: docs/AGENT_OVERVIEW.md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1. 에이전트 구성 — 역할 카드 10종</a:t>
            </a:r>
          </a:p>
        </p:txBody>
      </p:sp>
      <p:pic>
        <p:nvPicPr>
          <p:cNvPr id="3" name="Picture 2" descr="agent_01_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777240"/>
            <a:ext cx="9144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2. 에이전트 간 호출 Flow — 결과 재사용 그래프</a:t>
            </a:r>
          </a:p>
        </p:txBody>
      </p:sp>
      <p:pic>
        <p:nvPicPr>
          <p:cNvPr id="3" name="Picture 2" descr="agent_02_depend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777240"/>
            <a:ext cx="91440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3. 오케스트레이션 스윔레인 (제안 단계)</a:t>
            </a:r>
          </a:p>
        </p:txBody>
      </p:sp>
      <p:pic>
        <p:nvPicPr>
          <p:cNvPr id="3" name="Picture 2" descr="agent_03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07" y="777240"/>
            <a:ext cx="11612880" cy="40986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/>
              <a:t>역할별 입력·출력·도구·상한 (roles.py)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30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98763">
                <a:tc>
                  <a:txBody>
                    <a:bodyPr/>
                    <a:lstStyle/>
                    <a:p>
                      <a:r>
                        <a:rPr sz="1100"/>
                        <a:t>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입력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재사용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상한(턴·$·초)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r>
                        <a:rPr sz="1100"/>
                        <a:t>rfp_analyst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추출 블록 청크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RfpAnalysis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pwa search_source_text, get_source_block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 · 2 · 600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r>
                        <a:rPr sz="1100"/>
                        <a:t>requirement_extractor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청크 + RFP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RequirementExtraction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MCP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rfp_analyst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 · 2 · 600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r>
                        <a:rPr sz="1100"/>
                        <a:t>requirement_verifier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청크 + 요구사항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VerificationReport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MCP 없음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 · 2 · 600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r>
                        <a:rPr sz="1100"/>
                        <a:t>tech_researcher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요구사항·RFP 분석·조사 주제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ResearchReport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내장 WebSearch/WebFetch · pwa get_requirement, list_research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rfp_analyst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30 · 6 · 1200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r>
                        <a:rPr sz="1100"/>
                        <a:t>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요구사항·조사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ArchitectureDraft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pwa 읽기 9종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tech_researcher, rfp_analyst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 · 3 · 600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r>
                        <a:rPr sz="1100"/>
                        <a:t>planner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요구사항·아키텍처·기간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WBSDraft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pwa 읽기 9종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architect, rfp_analyst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 · 3 · 600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r>
                        <a:rPr sz="1100"/>
                        <a:t>proposal_writer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요구사항·조사·아키텍처·WBS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ProposalContent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pwa 읽기 9종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rfp_analyst, tech_researcher, architect, planner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 · 4 · 600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r>
                        <a:rPr sz="1100"/>
                        <a:t>document_generator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기준 데이터 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DocumentPlan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pwa 읽기 9종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proposal_writer, planner,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 · 2 · 600</a:t>
                      </a:r>
                    </a:p>
                  </a:txBody>
                  <a:tcPr/>
                </a:tc>
              </a:tr>
              <a:tr h="498763">
                <a:tc>
                  <a:txBody>
                    <a:bodyPr/>
                    <a:lstStyle/>
                    <a:p>
                      <a:r>
                        <a:rPr sz="1100"/>
                        <a:t>qa_reviewer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산출물 텍스트·기준·코드 검증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QaReport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pwa 읽기 10종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document_generator, proposal_writer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 · 3 · 600</a:t>
                      </a:r>
                    </a:p>
                  </a:txBody>
                  <a:tcPr/>
                </a:tc>
              </a:tr>
              <a:tr h="498770">
                <a:tc>
                  <a:txBody>
                    <a:bodyPr/>
                    <a:lstStyle/>
                    <a:p>
                      <a:r>
                        <a:rPr sz="1100"/>
                        <a:t>semantic_differ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변경 항목·기존 요구사항·규칙 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SemanticDiffDraft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pwa list_requirements, get_requirement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 · 1.5 · 600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